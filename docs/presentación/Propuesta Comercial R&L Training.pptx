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8B59BA-0AA1-486A-A868-914B64DB1F76}">
  <a:tblStyle styleId="{E88B59BA-0AA1-486A-A868-914B64DB1F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1062" y="1184969"/>
            <a:ext cx="28098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295400" y="2518469"/>
            <a:ext cx="9601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Gestión y Trazabilidad de Certificaciones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24212" y="5033069"/>
            <a:ext cx="57435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63946"/>
                </a:solidFill>
                <a:latin typeface="Lato"/>
                <a:ea typeface="Lato"/>
                <a:cs typeface="Lato"/>
                <a:sym typeface="Lato"/>
              </a:rPr>
              <a:t>CONTROL • RESPALDO • TRANQUILIDAD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95400" y="-13765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9869"/>
            <a:ext cx="3492400" cy="334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89869"/>
            <a:ext cx="3492549" cy="334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289869"/>
            <a:ext cx="3492400" cy="33450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EL DESAFÍO ACTUAL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1000" y="2670869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84239" y="3337619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Certificaciones Dispersas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823394"/>
            <a:ext cx="27304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Documentos perdidos en correos, carpetas físicas o archivos Excel desactualizados.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67086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662387" y="3337619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Falta de Trazabilidad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730650" y="3823394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Imposibilidad de reconstruir el historial formativo de un trabajador de forma inmediata.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025" y="267086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440690" y="3337619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Riesgo en Auditorías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508950" y="3823394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Vulnerabilidad legal y operativa ante inspecciones sorpresa o accidentes.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PLATAFORMA INTELIGENTE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31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2801391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Plataforma Centralizada: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Gestión total de empresas y trabajadores en la nube.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626197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Verificación Pública: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Validación instantánea mediante código único QR.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4451002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Control Total: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Diplomas e informes oficiales automatizados.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3472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5953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84340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2352675" y="2672804"/>
            <a:ext cx="7486650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A2540"/>
                </a:solidFill>
                <a:latin typeface="Lato"/>
                <a:ea typeface="Lato"/>
                <a:cs typeface="Lato"/>
                <a:sym typeface="Lato"/>
              </a:rPr>
              <a:t>"Usted no compra PDFs ni diplomas.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300" u="none" cap="none" strike="noStrike">
                <a:solidFill>
                  <a:srgbClr val="0A2540"/>
                </a:solidFill>
                <a:latin typeface="Lato"/>
                <a:ea typeface="Lato"/>
                <a:cs typeface="Lato"/>
                <a:sym typeface="Lato"/>
              </a:rPr>
              <a:t> Usted compra tranquilidad operacional."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971675" y="3964334"/>
            <a:ext cx="82486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63946"/>
                </a:solidFill>
                <a:latin typeface="Lato"/>
                <a:ea typeface="Lato"/>
                <a:cs typeface="Lato"/>
                <a:sym typeface="Lato"/>
              </a:rPr>
              <a:t>RESPALDO VERIFICABLE ANTE AUDITORÍAS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781175" y="2291804"/>
            <a:ext cx="4000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E63946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1752"/>
            <a:ext cx="5238750" cy="2261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75632"/>
            <a:ext cx="5238750" cy="257353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IMPACTO POR PERFIL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952500" y="3212752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3946"/>
                </a:solidFill>
                <a:latin typeface="Poppins"/>
                <a:ea typeface="Poppins"/>
                <a:cs typeface="Poppins"/>
                <a:sym typeface="Poppins"/>
              </a:rPr>
              <a:t>🏢 Empresa / Cliente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772275" y="3066157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👷 Trabajador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09675" y="3678525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333500" y="3679477"/>
            <a:ext cx="4095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Centralización de activos críticos.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09675" y="3971865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333500" y="3972817"/>
            <a:ext cx="4095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Evidencia verificable 24/7.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209675" y="4265205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333500" y="4266158"/>
            <a:ext cx="4095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Reducción drástica del riesgo legal.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029450" y="3531929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153275" y="3532882"/>
            <a:ext cx="4076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Certificados válidos y oficiales.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029450" y="3825269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153275" y="3826222"/>
            <a:ext cx="4076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Código QR de autenticidad.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029450" y="4118610"/>
            <a:ext cx="123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153275" y="4119562"/>
            <a:ext cx="4076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Respaldo público de su trayectoria profesional.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EFICIENCIA OPERATIVA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4616797"/>
            <a:ext cx="11049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RRHH y Prevención: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Ahorro de tiempo crítico, alertas automáticas de vencimiento y búsqueda instantánea de competencias.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349275" y="2511772"/>
            <a:ext cx="2419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E63946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349275" y="3654772"/>
            <a:ext cx="2419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A2540"/>
                </a:solidFill>
                <a:latin typeface="Lato"/>
                <a:ea typeface="Lato"/>
                <a:cs typeface="Lato"/>
                <a:sym typeface="Lato"/>
              </a:rPr>
              <a:t>Trazabilidad RUT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324326" y="2511772"/>
            <a:ext cx="1771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E63946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324326" y="3654772"/>
            <a:ext cx="1771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A2540"/>
                </a:solidFill>
                <a:latin typeface="Lato"/>
                <a:ea typeface="Lato"/>
                <a:cs typeface="Lato"/>
                <a:sym typeface="Lato"/>
              </a:rPr>
              <a:t>Papeles Perdidos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651676" y="2511772"/>
            <a:ext cx="2190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E63946"/>
                </a:solidFill>
                <a:latin typeface="Lato"/>
                <a:ea typeface="Lato"/>
                <a:cs typeface="Lato"/>
                <a:sym typeface="Lato"/>
              </a:rPr>
              <a:t>24/7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651676" y="3654772"/>
            <a:ext cx="2190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A2540"/>
                </a:solidFill>
                <a:latin typeface="Lato"/>
                <a:ea typeface="Lato"/>
                <a:cs typeface="Lato"/>
                <a:sym typeface="Lato"/>
              </a:rPr>
              <a:t>Disponibilidad Cloud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MODELO DE CRECIMIENTO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71500" y="3943275"/>
            <a:ext cx="11049000" cy="381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085975" y="356041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E63946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488632" y="4036665"/>
            <a:ext cx="34804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Nivel 1: Base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4474815"/>
            <a:ext cx="33147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Gestión de certificaciones y verificación pública.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953125" y="356041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E63946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4355782" y="4036665"/>
            <a:ext cx="34804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Nivel 2: Activo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438650" y="4474815"/>
            <a:ext cx="33147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Alertas de vencimiento, recertificación e informes.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9820275" y="356041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E63946"/>
          </a:solidFill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8222932" y="4036665"/>
            <a:ext cx="34804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Nivel 3: Premium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305800" y="4474815"/>
            <a:ext cx="33147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Reportes de auditoría y soporte para licitaciones.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INVERSIÓN Y VALOR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20"/>
          <p:cNvGraphicFramePr/>
          <p:nvPr/>
        </p:nvGraphicFramePr>
        <p:xfrm>
          <a:off x="571500" y="2809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{E88B59BA-0AA1-486A-A868-914B64DB1F76}</a:tableStyleId>
              </a:tblPr>
              <a:tblGrid>
                <a:gridCol w="3040100"/>
                <a:gridCol w="5292175"/>
                <a:gridCol w="2716700"/>
              </a:tblGrid>
              <a:tr h="6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Concepto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Detalle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Inversión (CLP)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</a:tr>
              <a:tr h="6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Fee Base Mensual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Acceso a plataforma, soporte y hosting.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$29.990 + 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Certificación Activa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QR, Diploma, Informe y Trazabilidad.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$2.000 c/u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Paquete Volumen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Más de 120 certificaciones.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$1.700 c/u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0"/>
          <p:cNvSpPr/>
          <p:nvPr/>
        </p:nvSpPr>
        <p:spPr>
          <a:xfrm>
            <a:off x="571500" y="4052887"/>
            <a:ext cx="30401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611612" y="4052887"/>
            <a:ext cx="5292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8903791" y="4052887"/>
            <a:ext cx="2716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71500" y="4672012"/>
            <a:ext cx="30401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611612" y="4672012"/>
            <a:ext cx="5292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8903791" y="4672012"/>
            <a:ext cx="2716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71500" y="5291137"/>
            <a:ext cx="30401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611612" y="5291137"/>
            <a:ext cx="52921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8903791" y="5291137"/>
            <a:ext cx="2716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ANÁLISIS DE CASO REAL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437763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"Un valor marginal comparado con el costo de una multa o una detención de faena por auditoría fallida."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COMPROMISO CON EL IZAJE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31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6381750" y="317465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Estándares de Clase Mundial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381750" y="3660427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Aplicamos rigor técnico en cada registro. Nuestra plataforma está diseñada para las exigencias reales de la industria del izaje y la construcción pesada.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4480798" y="1719262"/>
            <a:ext cx="323040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R&amp;L Training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4824412" y="2747962"/>
            <a:ext cx="25431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63946"/>
                </a:solidFill>
                <a:latin typeface="Lato"/>
                <a:ea typeface="Lato"/>
                <a:cs typeface="Lato"/>
                <a:sym typeface="Lato"/>
              </a:rPr>
              <a:t>¿Por qué nosotros?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2286000" y="3708052"/>
            <a:ext cx="7620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"Porque no entregamos documentos, construimos la trazabilidad que protege su operación."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348287" y="4957613"/>
            <a:ext cx="1495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CONTÁCTENOS HOY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809625" y="571500"/>
            <a:ext cx="113514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A2540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571500" y="571500"/>
            <a:ext cx="76200" cy="685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571500" y="31956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1" name="Google Shape;2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385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1666875" y="33594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https://www.aufaitux.com/wp-content/uploads/2025/02/asset-management-dashboard.jpg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1666875" y="35803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www.aufaitux.com</a:t>
            </a:r>
            <a:endParaRPr/>
          </a:p>
        </p:txBody>
      </p:sp>
      <p:pic>
        <p:nvPicPr>
          <p:cNvPr descr="image.png" id="244" name="Google Shape;24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10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1666875" y="413102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https://ohsacademy.pk/wp-content/uploads/2025/06/Untitled-design-3.jpg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1666875" y="435188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ohsacademy.pk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