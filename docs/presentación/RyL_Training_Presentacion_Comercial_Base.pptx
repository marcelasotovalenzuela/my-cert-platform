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2"/>
  </p:normalViewPr>
  <p:slideViewPr>
    <p:cSldViewPr snapToGrid="0" snapToObjects="1">
      <p:cViewPr varScale="1">
        <p:scale>
          <a:sx n="100" d="100"/>
          <a:sy n="100" d="100"/>
        </p:scale>
        <p:origin x="198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Gestión, trazabilidad y verificación de certificaciones laborales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Certificaciones dispersas</a:t>
            </a:r>
          </a:p>
          <a:p>
            <a:r>
              <a:t>Falta de trazabilidad</a:t>
            </a:r>
          </a:p>
          <a:p>
            <a:r>
              <a:t>Riesgo en auditorías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Plataforma centralizada</a:t>
            </a:r>
          </a:p>
          <a:p>
            <a:r>
              <a:t>Verificación pública</a:t>
            </a:r>
          </a:p>
          <a:p>
            <a:r>
              <a:t>Control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ofrece R&amp;L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empresas</a:t>
            </a:r>
            <a:r>
              <a:rPr dirty="0"/>
              <a:t> y </a:t>
            </a:r>
            <a:r>
              <a:rPr dirty="0" err="1"/>
              <a:t>trabajadores</a:t>
            </a:r>
            <a:endParaRPr dirty="0"/>
          </a:p>
          <a:p>
            <a:r>
              <a:rPr dirty="0" err="1"/>
              <a:t>Certificaciones</a:t>
            </a:r>
            <a:r>
              <a:rPr dirty="0"/>
              <a:t> con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único</a:t>
            </a:r>
            <a:endParaRPr dirty="0"/>
          </a:p>
          <a:p>
            <a:r>
              <a:rPr dirty="0"/>
              <a:t>Diplomas e </a:t>
            </a:r>
            <a:r>
              <a:rPr dirty="0" err="1"/>
              <a:t>informes</a:t>
            </a:r>
            <a:r>
              <a:rPr dirty="0"/>
              <a:t> </a:t>
            </a:r>
            <a:r>
              <a:rPr dirty="0" err="1"/>
              <a:t>oficiales</a:t>
            </a:r>
            <a:endParaRPr lang="es-ES" dirty="0"/>
          </a:p>
          <a:p>
            <a:r>
              <a:rPr lang="es-CL" b="1" dirty="0"/>
              <a:t>1️⃣ Valor núcleo (para todos)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Lo que el usuario </a:t>
            </a:r>
            <a:r>
              <a:rPr lang="es-CL" b="1" dirty="0"/>
              <a:t>compra realmente</a:t>
            </a:r>
            <a:r>
              <a:rPr lang="es-CL" dirty="0"/>
              <a:t>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✔ Control</a:t>
            </a:r>
            <a:endParaRPr lang="es-CL" dirty="0"/>
          </a:p>
          <a:p>
            <a:r>
              <a:rPr lang="es-CL" b="1" dirty="0"/>
              <a:t>✔ Trazabilidad</a:t>
            </a:r>
            <a:endParaRPr lang="es-CL" dirty="0"/>
          </a:p>
          <a:p>
            <a:r>
              <a:rPr lang="es-CL" b="1" dirty="0"/>
              <a:t>✔ Respaldo ante auditorías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No compra </a:t>
            </a:r>
            <a:r>
              <a:rPr lang="es-CL" dirty="0" err="1"/>
              <a:t>PDFs</a:t>
            </a:r>
            <a:r>
              <a:rPr lang="es-CL" dirty="0"/>
              <a:t>.</a:t>
            </a:r>
          </a:p>
          <a:p>
            <a:r>
              <a:rPr lang="es-CL" dirty="0"/>
              <a:t>No compra diplomas.</a:t>
            </a:r>
          </a:p>
          <a:p>
            <a:r>
              <a:rPr lang="es-CL" dirty="0"/>
              <a:t>Compra </a:t>
            </a:r>
            <a:r>
              <a:rPr lang="es-CL" b="1" dirty="0"/>
              <a:t>tranquilidad operacional</a:t>
            </a:r>
            <a:r>
              <a:rPr lang="es-CL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la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Menos </a:t>
            </a:r>
            <a:r>
              <a:rPr dirty="0" err="1"/>
              <a:t>riesgo</a:t>
            </a:r>
            <a:endParaRPr dirty="0"/>
          </a:p>
          <a:p>
            <a:r>
              <a:rPr dirty="0"/>
              <a:t>Más </a:t>
            </a:r>
            <a:r>
              <a:rPr dirty="0" err="1"/>
              <a:t>orden</a:t>
            </a:r>
            <a:endParaRPr dirty="0"/>
          </a:p>
          <a:p>
            <a:r>
              <a:rPr dirty="0" err="1"/>
              <a:t>Confianza</a:t>
            </a:r>
            <a:r>
              <a:rPr dirty="0"/>
              <a:t> ante </a:t>
            </a:r>
            <a:r>
              <a:rPr dirty="0" err="1"/>
              <a:t>auditorías</a:t>
            </a:r>
            <a:endParaRPr lang="es-ES" dirty="0"/>
          </a:p>
          <a:p>
            <a:r>
              <a:rPr lang="es-CL" b="1" dirty="0"/>
              <a:t>2️⃣ Capas de valor por tipo de usuario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🏢 Empresa</a:t>
            </a:r>
          </a:p>
          <a:p>
            <a:r>
              <a:rPr lang="es-CL" dirty="0"/>
              <a:t>Centralización de certificaciones</a:t>
            </a:r>
          </a:p>
          <a:p>
            <a:r>
              <a:rPr lang="es-CL" dirty="0"/>
              <a:t>Evidencia verificable</a:t>
            </a:r>
          </a:p>
          <a:p>
            <a:r>
              <a:rPr lang="es-CL" dirty="0"/>
              <a:t>Menos riesgo legal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👉 Valor percibido: </a:t>
            </a:r>
            <a:r>
              <a:rPr lang="es-CL" b="1" dirty="0"/>
              <a:t>seguridad y orden</a:t>
            </a:r>
            <a:endParaRPr lang="es-CL" dirty="0"/>
          </a:p>
          <a:p>
            <a:endParaRPr lang="es-E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RRHH / Prevención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Ahorro de </a:t>
            </a:r>
            <a:r>
              <a:rPr dirty="0" err="1"/>
              <a:t>tiempo</a:t>
            </a:r>
            <a:endParaRPr dirty="0"/>
          </a:p>
          <a:p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automáticas</a:t>
            </a:r>
            <a:endParaRPr dirty="0"/>
          </a:p>
          <a:p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clara</a:t>
            </a:r>
            <a:endParaRPr lang="es-ES" dirty="0"/>
          </a:p>
          <a:p>
            <a:r>
              <a:rPr lang="es-CL" b="1" dirty="0"/>
              <a:t>🧑‍💼 RRHH / Prevención</a:t>
            </a:r>
          </a:p>
          <a:p>
            <a:r>
              <a:rPr lang="es-CL" dirty="0"/>
              <a:t>Ahorro de tiempo</a:t>
            </a:r>
          </a:p>
          <a:p>
            <a:r>
              <a:rPr lang="es-CL" dirty="0"/>
              <a:t>Alertas automáticas</a:t>
            </a:r>
          </a:p>
          <a:p>
            <a:r>
              <a:rPr lang="es-CL" dirty="0"/>
              <a:t>Búsqueda rápida por RUT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👉 Valor percibido: </a:t>
            </a:r>
            <a:r>
              <a:rPr lang="es-CL" b="1" dirty="0"/>
              <a:t>eficiencia y control diario</a:t>
            </a:r>
            <a:endParaRPr lang="es-CL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trabajadores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Certificados</a:t>
            </a:r>
            <a:r>
              <a:rPr dirty="0"/>
              <a:t> </a:t>
            </a:r>
            <a:r>
              <a:rPr dirty="0" err="1"/>
              <a:t>verificables</a:t>
            </a:r>
            <a:endParaRPr dirty="0"/>
          </a:p>
          <a:p>
            <a:r>
              <a:rPr dirty="0" err="1"/>
              <a:t>Respaldo</a:t>
            </a:r>
            <a:r>
              <a:rPr dirty="0"/>
              <a:t> </a:t>
            </a:r>
            <a:r>
              <a:rPr dirty="0" err="1"/>
              <a:t>permanente</a:t>
            </a:r>
            <a:endParaRPr dirty="0"/>
          </a:p>
          <a:p>
            <a:r>
              <a:rPr dirty="0" err="1"/>
              <a:t>Transparencia</a:t>
            </a:r>
            <a:endParaRPr lang="es-ES" dirty="0"/>
          </a:p>
          <a:p>
            <a:r>
              <a:rPr lang="es-CL" b="1" dirty="0"/>
              <a:t>👷 Trabajador</a:t>
            </a:r>
          </a:p>
          <a:p>
            <a:r>
              <a:rPr lang="es-CL" dirty="0"/>
              <a:t>Certificados válidos</a:t>
            </a:r>
          </a:p>
          <a:p>
            <a:r>
              <a:rPr lang="es-CL" dirty="0"/>
              <a:t>Código verificable</a:t>
            </a:r>
          </a:p>
          <a:p>
            <a:r>
              <a:rPr lang="es-CL" dirty="0"/>
              <a:t>Respaldo público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👉 Valor percibido: </a:t>
            </a:r>
            <a:r>
              <a:rPr lang="es-CL" b="1" dirty="0"/>
              <a:t>confianza y legitimidad</a:t>
            </a:r>
            <a:endParaRPr lang="es-CL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pequeña</a:t>
            </a:r>
            <a:endParaRPr dirty="0"/>
          </a:p>
          <a:p>
            <a:r>
              <a:rPr dirty="0"/>
              <a:t>Hasta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empresas</a:t>
            </a:r>
            <a:endParaRPr dirty="0"/>
          </a:p>
          <a:p>
            <a:r>
              <a:rPr dirty="0"/>
              <a:t>Sin </a:t>
            </a:r>
            <a:r>
              <a:rPr dirty="0" err="1"/>
              <a:t>perder</a:t>
            </a:r>
            <a:r>
              <a:rPr dirty="0"/>
              <a:t> control</a:t>
            </a:r>
            <a:endParaRPr lang="es-ES" dirty="0"/>
          </a:p>
          <a:p>
            <a:r>
              <a:rPr lang="es-CL" b="1" dirty="0"/>
              <a:t>3️⃣ Escalera de valor (modelo escalable)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Esta es la parte estratégica que te va a servir </a:t>
            </a:r>
            <a:r>
              <a:rPr lang="es-CL" b="1" dirty="0"/>
              <a:t>para siempre</a:t>
            </a:r>
            <a:r>
              <a:rPr lang="es-CL" dirty="0"/>
              <a:t>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🔹 Nivel 1 — Uso base</a:t>
            </a:r>
          </a:p>
          <a:p>
            <a:r>
              <a:rPr lang="es-CL" dirty="0"/>
              <a:t>Gestión de certificaciones</a:t>
            </a:r>
          </a:p>
          <a:p>
            <a:r>
              <a:rPr lang="es-CL" dirty="0"/>
              <a:t>Diplomas + verificación pública</a:t>
            </a:r>
          </a:p>
          <a:p>
            <a:r>
              <a:rPr lang="es-CL" dirty="0"/>
              <a:t>👉 Ideal para empresas pequeñas</a:t>
            </a:r>
          </a:p>
          <a:p>
            <a:br>
              <a:rPr lang="es-CL" dirty="0"/>
            </a:br>
            <a:endParaRPr lang="es-CL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6B39-1D1D-1A9E-6FC2-B1EBE667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0318-D1DD-E75A-E84D-55F7EFDF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Escalabilidad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C9111-28D6-CD46-5499-04A10714D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CL" b="1" dirty="0"/>
              <a:t>🔹 Nivel 2 — Gestión activa</a:t>
            </a:r>
          </a:p>
          <a:p>
            <a:r>
              <a:rPr lang="es-CL" dirty="0"/>
              <a:t>Alertas de vencimiento</a:t>
            </a:r>
          </a:p>
          <a:p>
            <a:r>
              <a:rPr lang="es-CL" dirty="0"/>
              <a:t>Recertificación</a:t>
            </a:r>
          </a:p>
          <a:p>
            <a:r>
              <a:rPr lang="es-CL" dirty="0"/>
              <a:t>Informes profesionales</a:t>
            </a:r>
          </a:p>
          <a:p>
            <a:r>
              <a:rPr lang="es-CL" dirty="0"/>
              <a:t>👉 Empresas medianas / exigencias formales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🔹 Nivel 3 — Valor premium (futuro)</a:t>
            </a:r>
          </a:p>
          <a:p>
            <a:r>
              <a:rPr lang="es-CL" dirty="0"/>
              <a:t>Reportes para auditoría</a:t>
            </a:r>
          </a:p>
          <a:p>
            <a:r>
              <a:rPr lang="es-CL" dirty="0"/>
              <a:t>Historial por trabajador</a:t>
            </a:r>
          </a:p>
          <a:p>
            <a:r>
              <a:rPr lang="es-CL" dirty="0"/>
              <a:t>Soporte prioritario / acompañamiento</a:t>
            </a:r>
          </a:p>
          <a:p>
            <a:r>
              <a:rPr lang="es-CL" dirty="0"/>
              <a:t>👉 Empresas grandes / contratos / licitaciones</a:t>
            </a:r>
          </a:p>
          <a:p>
            <a:br>
              <a:rPr lang="es-CL" dirty="0"/>
            </a:br>
            <a:endParaRPr lang="es-CL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06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Pago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certificación</a:t>
            </a:r>
            <a:endParaRPr dirty="0"/>
          </a:p>
          <a:p>
            <a:r>
              <a:rPr dirty="0"/>
              <a:t>Planes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volumen</a:t>
            </a:r>
            <a:endParaRPr dirty="0"/>
          </a:p>
          <a:p>
            <a:r>
              <a:rPr dirty="0" err="1"/>
              <a:t>Servicios</a:t>
            </a:r>
            <a:r>
              <a:rPr dirty="0"/>
              <a:t> premium</a:t>
            </a:r>
            <a:endParaRPr lang="es-ES" dirty="0"/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B048-A9D4-457D-662B-3B9B7BE4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5DFD-D6D6-C537-8516-83939602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valor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C514D-AD7B-8F90-0315-E8EE6DEC1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s-CL" b="1" dirty="0"/>
              <a:t>1️⃣ Fee base mensual por empresa (acceso)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Este es el “derecho a uso”, independiente de cuántas certificaciones carguen.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🔹 Precio recomendado: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👉 </a:t>
            </a:r>
            <a:r>
              <a:rPr lang="es-CL" b="1" dirty="0"/>
              <a:t>$25.000 – $40.000 CLP / mes / empresa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📌 Yo partiría en:</a:t>
            </a:r>
          </a:p>
          <a:p>
            <a:r>
              <a:rPr lang="es-CL" b="1" dirty="0"/>
              <a:t>$29.990 CLP + IVA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Por qué:</a:t>
            </a:r>
          </a:p>
          <a:p>
            <a:r>
              <a:rPr lang="es-CL" dirty="0"/>
              <a:t>Precio psicológico aceptable</a:t>
            </a:r>
          </a:p>
          <a:p>
            <a:r>
              <a:rPr lang="es-CL" dirty="0"/>
              <a:t>No genera fricción</a:t>
            </a:r>
          </a:p>
          <a:p>
            <a:r>
              <a:rPr lang="es-CL" dirty="0"/>
              <a:t>Filtra clientes poco serios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2️⃣ Cobro por certificación activa (</a:t>
            </a:r>
            <a:r>
              <a:rPr lang="es-CL" b="1" dirty="0" err="1"/>
              <a:t>core</a:t>
            </a:r>
            <a:r>
              <a:rPr lang="es-CL" b="1" dirty="0"/>
              <a:t> del negocio)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Aquí está el verdadero valor.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🔹 Precio unitario recomendado: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👉 </a:t>
            </a:r>
            <a:r>
              <a:rPr lang="es-CL" b="1" dirty="0"/>
              <a:t>$1.500 – $3.000 CLP por certificación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Incluye:</a:t>
            </a:r>
          </a:p>
          <a:p>
            <a:r>
              <a:rPr lang="es-CL" dirty="0"/>
              <a:t>Registro</a:t>
            </a:r>
          </a:p>
          <a:p>
            <a:r>
              <a:rPr lang="es-CL" dirty="0"/>
              <a:t>Código de verificación</a:t>
            </a:r>
          </a:p>
          <a:p>
            <a:r>
              <a:rPr lang="es-CL" dirty="0"/>
              <a:t>Diploma / informe</a:t>
            </a:r>
          </a:p>
          <a:p>
            <a:r>
              <a:rPr lang="es-CL" dirty="0"/>
              <a:t>Verificación pública</a:t>
            </a:r>
          </a:p>
          <a:p>
            <a:r>
              <a:rPr lang="es-CL" dirty="0"/>
              <a:t>Trazabilidad histórica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📌 Precio sano v1:</a:t>
            </a:r>
          </a:p>
          <a:p>
            <a:r>
              <a:rPr lang="es-CL" b="1" dirty="0"/>
              <a:t>$2.000 CLP por certificación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3️⃣ Paquetes por volumen (para cerrar ventas)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609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AC52-A828-4D87-F9AF-959F820F2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C487-CF2C-458C-30DF-6D1E6077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Modelo de valor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D1FF-C194-D72C-AAA9-4645372A1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CL" b="1" dirty="0"/>
              <a:t>3️⃣ Paquetes por volumen (para cerrar ventas)</a:t>
            </a:r>
          </a:p>
          <a:p>
            <a:r>
              <a:rPr lang="es-CL" dirty="0"/>
              <a:t>👉 Esto </a:t>
            </a:r>
            <a:r>
              <a:rPr lang="es-CL" b="1" dirty="0"/>
              <a:t>incentiva uso</a:t>
            </a:r>
            <a:r>
              <a:rPr lang="es-CL" dirty="0"/>
              <a:t>, no castiga crecimiento.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📦 Ejemplos reales (para que lo visualices)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🏢 Empresa pequeña</a:t>
            </a:r>
          </a:p>
          <a:p>
            <a:r>
              <a:rPr lang="es-CL" dirty="0"/>
              <a:t>Fee base: $29.990</a:t>
            </a:r>
          </a:p>
          <a:p>
            <a:r>
              <a:rPr lang="es-CL" dirty="0"/>
              <a:t>20 certificaciones × $2.000 = $40.000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👉 Total: ~$70.000 CLP / mes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🟢 Súper razonable para una empresa formal.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🏭 Empresa mediana</a:t>
            </a:r>
          </a:p>
          <a:p>
            <a:r>
              <a:rPr lang="es-CL" dirty="0"/>
              <a:t>Fee base: $29.990</a:t>
            </a:r>
          </a:p>
          <a:p>
            <a:r>
              <a:rPr lang="es-CL" dirty="0"/>
              <a:t>120 </a:t>
            </a:r>
            <a:r>
              <a:rPr lang="es-CL" dirty="0" err="1"/>
              <a:t>cert</a:t>
            </a:r>
            <a:r>
              <a:rPr lang="es-CL" dirty="0"/>
              <a:t> × $1.700 = $204.000</a:t>
            </a:r>
          </a:p>
          <a:p>
            <a:br>
              <a:rPr lang="es-CL" dirty="0"/>
            </a:br>
            <a:endParaRPr lang="es-CL" dirty="0"/>
          </a:p>
          <a:p>
            <a:r>
              <a:rPr lang="es-CL" b="1" dirty="0"/>
              <a:t>👉 Total: ~$234.000 CLP / mes</a:t>
            </a:r>
            <a:endParaRPr lang="es-CL" dirty="0"/>
          </a:p>
          <a:p>
            <a:br>
              <a:rPr lang="es-CL" dirty="0"/>
            </a:br>
            <a:endParaRPr lang="es-CL" dirty="0"/>
          </a:p>
          <a:p>
            <a:r>
              <a:rPr lang="es-CL" dirty="0"/>
              <a:t>🟢 Barato comparado con una multa o auditoría fallida.</a:t>
            </a:r>
          </a:p>
          <a:p>
            <a:br>
              <a:rPr lang="es-CL" dirty="0"/>
            </a:br>
            <a:endParaRPr lang="es-CL" dirty="0"/>
          </a:p>
          <a:p>
            <a:pPr marL="0" indent="0">
              <a:buNone/>
            </a:pPr>
            <a:endParaRPr lang="es-CL" b="1" dirty="0"/>
          </a:p>
          <a:p>
            <a:pPr marL="0" indent="0">
              <a:buNone/>
            </a:pPr>
            <a:endParaRPr lang="es-CL" b="1" dirty="0"/>
          </a:p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15CE8C-BC6F-CB21-CDF5-B5053C944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150" y="1316038"/>
            <a:ext cx="2152650" cy="110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2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R&amp;L Training</a:t>
            </a:r>
          </a:p>
          <a:p>
            <a:r>
              <a:rPr dirty="0"/>
              <a:t>Control, </a:t>
            </a:r>
            <a:r>
              <a:rPr dirty="0" err="1"/>
              <a:t>trazabilidad</a:t>
            </a:r>
            <a:r>
              <a:rPr dirty="0"/>
              <a:t> y </a:t>
            </a:r>
            <a:r>
              <a:rPr dirty="0" err="1"/>
              <a:t>tranquilidad</a:t>
            </a:r>
            <a:endParaRPr lang="es-ES" dirty="0"/>
          </a:p>
          <a:p>
            <a:r>
              <a:rPr lang="es-CL" dirty="0"/>
              <a:t>Cuando te pregunten </a:t>
            </a:r>
            <a:r>
              <a:rPr lang="es-CL" b="1" dirty="0"/>
              <a:t>“¿por qué cuesta eso?”</a:t>
            </a:r>
            <a:r>
              <a:rPr lang="es-CL" dirty="0"/>
              <a:t>, la respuesta es:</a:t>
            </a:r>
          </a:p>
          <a:p>
            <a:br>
              <a:rPr lang="es-CL" dirty="0"/>
            </a:br>
            <a:endParaRPr lang="es-CL" dirty="0"/>
          </a:p>
          <a:p>
            <a:r>
              <a:rPr lang="es-CL"/>
              <a:t>“Porque no vendemos certificados, vendemos respaldo verificable y trazabilidad ante auditorías.”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573</Words>
  <Application>Microsoft Macintosh PowerPoint</Application>
  <PresentationFormat>Presentación en pantalla (4:3)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R&amp;L Training</vt:lpstr>
      <vt:lpstr>El problema</vt:lpstr>
      <vt:lpstr>La solución</vt:lpstr>
      <vt:lpstr>Qué ofrece R&amp;L Training</vt:lpstr>
      <vt:lpstr>Valor para la empresa</vt:lpstr>
      <vt:lpstr>Valor para RRHH / Prevención</vt:lpstr>
      <vt:lpstr>Valor para trabajadores</vt:lpstr>
      <vt:lpstr>Escalabilidad</vt:lpstr>
      <vt:lpstr>Escalabilidad</vt:lpstr>
      <vt:lpstr>Modelo de valor</vt:lpstr>
      <vt:lpstr>Modelo de valor</vt:lpstr>
      <vt:lpstr>Modelo de valor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Marcela Soto Valenzuela</cp:lastModifiedBy>
  <cp:revision>2</cp:revision>
  <dcterms:created xsi:type="dcterms:W3CDTF">2013-01-27T09:14:16Z</dcterms:created>
  <dcterms:modified xsi:type="dcterms:W3CDTF">2025-12-22T12:12:34Z</dcterms:modified>
  <cp:category/>
</cp:coreProperties>
</file>